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embeddedFontLst>
    <p:embeddedFont>
      <p:font typeface="Carlito" panose="020B0604020202020204" charset="0"/>
      <p:regular r:id="rId15"/>
    </p:embeddedFont>
    <p:embeddedFont>
      <p:font typeface="Tinos" panose="020B0604020202020204" charset="0"/>
      <p:regular r:id="rId16"/>
    </p:embeddedFont>
    <p:embeddedFont>
      <p:font typeface="Tinos Bold" panose="020B0604020202020204" charset="0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1503" autoAdjust="0"/>
  </p:normalViewPr>
  <p:slideViewPr>
    <p:cSldViewPr snapToGrid="0" snapToObjects="1">
      <p:cViewPr>
        <p:scale>
          <a:sx n="100" d="100"/>
          <a:sy n="100" d="100"/>
        </p:scale>
        <p:origin x="946" y="-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3854" y="6432352"/>
            <a:ext cx="547315" cy="2132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rlito" panose="020F0502020204030204" pitchFamily="34" charset="0"/>
                <a:ea typeface="Carlito" panose="020F0502020204030204" pitchFamily="34" charset="-122"/>
                <a:cs typeface="Carlito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133600" y="2213744"/>
            <a:ext cx="5943600" cy="803225"/>
          </a:xfrm>
          <a:prstGeom prst="roundRect">
            <a:avLst>
              <a:gd name="adj" fmla="val 19998"/>
            </a:avLst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594360" y="1749424"/>
            <a:ext cx="8277860" cy="7641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Server Virtualization and Its Role in Cloud Computing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>
                <a:solidFill>
                  <a:srgbClr val="C00000"/>
                </a:solidFill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TEAM 15</a:t>
            </a:r>
            <a:endParaRPr lang="en-US" sz="2400" b="1" dirty="0">
              <a:solidFill>
                <a:srgbClr val="C00000"/>
              </a:solidFill>
              <a:latin typeface="Tinos Bold" panose="02020803070505020304" pitchFamily="34" charset="0"/>
              <a:ea typeface="Tinos Bold" panose="02020803070505020304" pitchFamily="34" charset="-122"/>
              <a:cs typeface="Tinos Bold" panose="02020803070505020304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2400" b="1" dirty="0">
              <a:solidFill>
                <a:srgbClr val="C00000"/>
              </a:solidFill>
              <a:latin typeface="Tinos Bold" panose="02020803070505020304" pitchFamily="34" charset="0"/>
              <a:ea typeface="Tinos Bold" panose="02020803070505020304" pitchFamily="34" charset="-122"/>
              <a:cs typeface="Tinos Bold" panose="02020803070505020304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2400" b="1" dirty="0">
              <a:solidFill>
                <a:srgbClr val="C00000"/>
              </a:solidFill>
              <a:latin typeface="Tinos Bold" panose="02020803070505020304" pitchFamily="34" charset="0"/>
              <a:ea typeface="Tinos Bold" panose="02020803070505020304" pitchFamily="34" charset="-122"/>
              <a:cs typeface="Tinos Bold" panose="02020803070505020304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07670" y="2583180"/>
            <a:ext cx="8416290" cy="8699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E75B6"/>
                </a:solidFill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Cloud Computing and Big Data Analytics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19980" y="3522762"/>
            <a:ext cx="8504039" cy="5485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0720" y="3522762"/>
            <a:ext cx="3110230" cy="25205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lvl="1" indent="0" algn="l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Guided By					Students Name</a:t>
            </a:r>
            <a:endParaRPr lang="en-US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algn="l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Dr.A.M.Arul R</a:t>
            </a:r>
            <a:r>
              <a:rPr lang="en-I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aj				</a:t>
            </a:r>
            <a:r>
              <a:rPr lang="en-IN" altLang="en-US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R.Yazhini</a:t>
            </a:r>
            <a:r>
              <a:rPr lang="en-I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(192521190)</a:t>
            </a:r>
            <a:endParaRPr lang="en-US" sz="1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algn="l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Professor					</a:t>
            </a:r>
            <a:r>
              <a:rPr lang="en-IN" sz="16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S.Magalakshmi</a:t>
            </a: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(192524144)</a:t>
            </a:r>
            <a:endParaRPr lang="en-US" sz="1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algn="l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SIMATS Engineering			</a:t>
            </a:r>
            <a:r>
              <a:rPr lang="en-IN" alt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</a:t>
            </a: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SIMATS Engineering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0" y="354955"/>
            <a:ext cx="8507685" cy="65238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99307B8-65AE-0E3F-9E24-8BA5C7303656}"/>
              </a:ext>
            </a:extLst>
          </p:cNvPr>
          <p:cNvSpPr/>
          <p:nvPr/>
        </p:nvSpPr>
        <p:spPr>
          <a:xfrm>
            <a:off x="7931020" y="6335486"/>
            <a:ext cx="1212980" cy="4635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DC6B85-E0AF-53A3-4CBB-78E8018A6ED7}"/>
              </a:ext>
            </a:extLst>
          </p:cNvPr>
          <p:cNvSpPr txBox="1"/>
          <p:nvPr/>
        </p:nvSpPr>
        <p:spPr>
          <a:xfrm>
            <a:off x="8077200" y="642850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88020" y="1336901"/>
            <a:ext cx="7142175" cy="7098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Abstract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7640" y="1817224"/>
            <a:ext cx="4977160" cy="29940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virtualization is a key technology in modern computing infrastructure.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computing environments to operate independently from physical hardware.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Hypervisors manage virtual machines and underlying resources.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supports efficient resource sharing and workload isolation.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foundation for flexible and scalable cloud infrastructure.</a:t>
            </a:r>
          </a:p>
          <a:p>
            <a:pPr algn="l">
              <a:lnSpc>
                <a:spcPct val="150000"/>
              </a:lnSpc>
              <a:buSzPct val="100000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Tinos" panose="020206030504050203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0" y="354955"/>
            <a:ext cx="8507685" cy="6523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0FB238-52D5-E323-3C0B-C0BD59B961B0}"/>
              </a:ext>
            </a:extLst>
          </p:cNvPr>
          <p:cNvSpPr/>
          <p:nvPr/>
        </p:nvSpPr>
        <p:spPr>
          <a:xfrm>
            <a:off x="7934960" y="6260811"/>
            <a:ext cx="1209040" cy="5971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03689-80CB-F356-1AE4-4FBD9C22D1F7}"/>
              </a:ext>
            </a:extLst>
          </p:cNvPr>
          <p:cNvSpPr txBox="1"/>
          <p:nvPr/>
        </p:nvSpPr>
        <p:spPr>
          <a:xfrm>
            <a:off x="8230194" y="6355823"/>
            <a:ext cx="987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pic>
        <p:nvPicPr>
          <p:cNvPr id="13" name="Picture 12" descr="AutomatedBuildings.com Article - The Benefit of a Virtual Environment ...">
            <a:extLst>
              <a:ext uri="{FF2B5EF4-FFF2-40B4-BE49-F238E27FC236}">
                <a16:creationId xmlns:a16="http://schemas.microsoft.com/office/drawing/2014/main" id="{94F631B0-A0F4-5F07-C831-527347459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044" y="2141770"/>
            <a:ext cx="3383281" cy="3314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001" y="6470414"/>
            <a:ext cx="515169" cy="1371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898989"/>
                </a:solidFill>
                <a:latin typeface="Carlito" panose="020F0502020204030204" pitchFamily="34" charset="0"/>
                <a:ea typeface="Carlito" panose="020F0502020204030204" pitchFamily="34" charset="-122"/>
                <a:cs typeface="Carlito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3656" y="1553021"/>
            <a:ext cx="7316539" cy="49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Aim and Objectives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3880" y="2286000"/>
            <a:ext cx="8580755" cy="1052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3880" y="2773681"/>
            <a:ext cx="7316494" cy="34208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Understand the concept and architecture of server virtualization.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Study virtual machines and their components.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Understand the working and role of hypervisors.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Compare physical servers with virtualized server environments.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Analyze the benefits and limitations of virtualization.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4480" indent="-28448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Examine real-world applications of virtualization in cloud computing.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0" y="354955"/>
            <a:ext cx="8507685" cy="6523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2913E36-059F-D565-6CC0-44B3AA096493}"/>
              </a:ext>
            </a:extLst>
          </p:cNvPr>
          <p:cNvSpPr/>
          <p:nvPr/>
        </p:nvSpPr>
        <p:spPr>
          <a:xfrm>
            <a:off x="7835019" y="6171307"/>
            <a:ext cx="1308981" cy="6634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102AA7-42A6-8FBB-48BE-1196080F5F49}"/>
              </a:ext>
            </a:extLst>
          </p:cNvPr>
          <p:cNvSpPr txBox="1"/>
          <p:nvPr/>
        </p:nvSpPr>
        <p:spPr>
          <a:xfrm>
            <a:off x="8016240" y="6390640"/>
            <a:ext cx="589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3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001" y="6470414"/>
            <a:ext cx="515169" cy="1371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898989"/>
                </a:solidFill>
                <a:latin typeface="Carlito" panose="020F0502020204030204" pitchFamily="34" charset="0"/>
                <a:ea typeface="Carlito" panose="020F0502020204030204" pitchFamily="34" charset="-122"/>
                <a:cs typeface="Carlito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3656" y="1553021"/>
            <a:ext cx="7316539" cy="49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3766" y="2065020"/>
            <a:ext cx="7452236" cy="41549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virtualization creates multiple virtual servers on a single physical server.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resources are abstracted into virtual CPU, memory, storage and network resources.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virtual machine can run its own operating system and applications.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hypervisor manages communication between VMs and physical hardware.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provides isolation between different workloads.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efficient and flexible use of computing resources</a:t>
            </a:r>
          </a:p>
          <a:p>
            <a:pPr marL="365760" indent="-36576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Tinos" panose="020206030504050203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0" y="354955"/>
            <a:ext cx="8507685" cy="6523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2BB68B-2CDA-96F8-3AEC-7BDDBECD928E}"/>
              </a:ext>
            </a:extLst>
          </p:cNvPr>
          <p:cNvSpPr/>
          <p:nvPr/>
        </p:nvSpPr>
        <p:spPr>
          <a:xfrm>
            <a:off x="7934960" y="6370320"/>
            <a:ext cx="1209040" cy="487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5DBD02-6A53-30FB-31BD-996BD2AEDE72}"/>
              </a:ext>
            </a:extLst>
          </p:cNvPr>
          <p:cNvSpPr txBox="1"/>
          <p:nvPr/>
        </p:nvSpPr>
        <p:spPr>
          <a:xfrm>
            <a:off x="8107680" y="6470414"/>
            <a:ext cx="773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4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001" y="6470414"/>
            <a:ext cx="515169" cy="1371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898989"/>
                </a:solidFill>
                <a:latin typeface="Carlito" panose="020F0502020204030204" pitchFamily="34" charset="0"/>
                <a:ea typeface="Carlito" panose="020F0502020204030204" pitchFamily="34" charset="-122"/>
                <a:cs typeface="Carlito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4373" y="1502346"/>
            <a:ext cx="7316539" cy="49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C00000"/>
                </a:solidFill>
              </a:rPr>
              <a:t>TYPES OF VIRTUALIZATION</a:t>
            </a:r>
          </a:p>
        </p:txBody>
      </p:sp>
      <p:sp>
        <p:nvSpPr>
          <p:cNvPr id="4" name="Text 2"/>
          <p:cNvSpPr/>
          <p:nvPr/>
        </p:nvSpPr>
        <p:spPr>
          <a:xfrm>
            <a:off x="605790" y="2115820"/>
            <a:ext cx="3263900" cy="4502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ea typeface="Tinos" panose="020206030504050203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0880" y="2108200"/>
            <a:ext cx="8676640" cy="4343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Server Virtualization:</a:t>
            </a:r>
            <a:r>
              <a:rPr lang="en-IN" sz="1600" dirty="0"/>
              <a:t> One physical server runs multiple VMs.</a:t>
            </a:r>
            <a:br>
              <a:rPr lang="en-IN" sz="1600" dirty="0"/>
            </a:br>
            <a:r>
              <a:rPr lang="en-IN" sz="1600" i="1" dirty="0"/>
              <a:t>Example: Windows VM + Linux VM on one server.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Storage Virtualization:</a:t>
            </a:r>
            <a:r>
              <a:rPr lang="en-IN" sz="1600" dirty="0"/>
              <a:t> Multiple storage devices appear as one storage system.</a:t>
            </a:r>
            <a:br>
              <a:rPr lang="en-IN" sz="1600" dirty="0"/>
            </a:br>
            <a:r>
              <a:rPr lang="en-IN" sz="1600" i="1" dirty="0"/>
              <a:t>Example: Several hard drives combined into one virtual storage pool.</a:t>
            </a:r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Network Virtualization:</a:t>
            </a:r>
            <a:r>
              <a:rPr lang="en-IN" sz="1600" dirty="0"/>
              <a:t> One physical network is divided into virtual networks.</a:t>
            </a:r>
            <a:br>
              <a:rPr lang="en-IN" sz="1600" dirty="0"/>
            </a:br>
            <a:r>
              <a:rPr lang="en-IN" sz="1600" i="1" dirty="0"/>
              <a:t>Example: Separate virtual networks for employees and guests.</a:t>
            </a:r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Desktop Virtualization:</a:t>
            </a:r>
            <a:r>
              <a:rPr lang="en-IN" sz="1600" dirty="0"/>
              <a:t> A desktop runs on a remote server.</a:t>
            </a:r>
            <a:br>
              <a:rPr lang="en-IN" sz="1600" dirty="0"/>
            </a:br>
            <a:r>
              <a:rPr lang="en-IN" sz="1600" i="1" dirty="0"/>
              <a:t>Example: Accessing your office desktop from a laptop.</a:t>
            </a:r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Application Virtualization:</a:t>
            </a:r>
            <a:r>
              <a:rPr lang="en-IN" sz="1600" dirty="0"/>
              <a:t> An application runs in a virtual environment.</a:t>
            </a:r>
            <a:br>
              <a:rPr lang="en-IN" sz="1600" dirty="0"/>
            </a:br>
            <a:r>
              <a:rPr lang="en-IN" sz="1600" i="1" dirty="0"/>
              <a:t>Example: Using an application without fully installing it on the computer.</a:t>
            </a:r>
          </a:p>
          <a:p>
            <a:pPr lvl="0"/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Data Virtualization:</a:t>
            </a:r>
            <a:r>
              <a:rPr lang="en-IN" sz="1600" dirty="0"/>
              <a:t> Data from different sources is accessed through one view.</a:t>
            </a:r>
            <a:br>
              <a:rPr lang="en-IN" sz="1600" dirty="0"/>
            </a:br>
            <a:r>
              <a:rPr lang="en-IN" sz="1600" i="1" dirty="0"/>
              <a:t>Example: Viewing database and cloud data through one interface.</a:t>
            </a:r>
            <a:endParaRPr lang="en-IN" sz="1600" dirty="0"/>
          </a:p>
          <a:p>
            <a:pPr marL="365760" indent="-365760" algn="l">
              <a:lnSpc>
                <a:spcPct val="150000"/>
              </a:lnSpc>
              <a:buSzPct val="100000"/>
              <a:buChar char="•"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ea typeface="Tinos" panose="020206030504050203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0" y="354955"/>
            <a:ext cx="8507685" cy="6523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966AE60-59D4-29E8-FFBD-179A639DC2FC}"/>
              </a:ext>
            </a:extLst>
          </p:cNvPr>
          <p:cNvSpPr/>
          <p:nvPr/>
        </p:nvSpPr>
        <p:spPr>
          <a:xfrm>
            <a:off x="7853680" y="6207760"/>
            <a:ext cx="1209040" cy="650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873E8-DC2E-AB53-70F7-8CC0350DA420}"/>
              </a:ext>
            </a:extLst>
          </p:cNvPr>
          <p:cNvSpPr txBox="1"/>
          <p:nvPr/>
        </p:nvSpPr>
        <p:spPr>
          <a:xfrm>
            <a:off x="8036560" y="6470414"/>
            <a:ext cx="72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001" y="6470414"/>
            <a:ext cx="515169" cy="1371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898989"/>
                </a:solidFill>
                <a:latin typeface="Carlito" panose="020F0502020204030204" pitchFamily="34" charset="0"/>
                <a:ea typeface="Carlito" panose="020F0502020204030204" pitchFamily="34" charset="-122"/>
                <a:cs typeface="Carlito" panose="020F0502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86180" y="1535430"/>
            <a:ext cx="7173595" cy="842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Existing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58240" y="2047875"/>
            <a:ext cx="6934835" cy="11423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Tinos Bold" panose="02020803070505020304" pitchFamily="34" charset="-122"/>
                <a:cs typeface="Times New Roman" panose="02020603050405020304" pitchFamily="18" charset="0"/>
              </a:rPr>
              <a:t>Physical Server Model</a:t>
            </a:r>
          </a:p>
        </p:txBody>
      </p:sp>
      <p:sp>
        <p:nvSpPr>
          <p:cNvPr id="5" name="Text 3"/>
          <p:cNvSpPr/>
          <p:nvPr/>
        </p:nvSpPr>
        <p:spPr>
          <a:xfrm>
            <a:off x="528321" y="2641880"/>
            <a:ext cx="5455919" cy="4013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86080" indent="-38608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Each major application is deployed on a dedicated physical server.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6080" indent="-38608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CPU and memory may remain unused during low workloads.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6080" indent="-38608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New applications generally require additional physical hardware.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6080" indent="-38608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Hardware installation and operating system configuration take time.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6080" indent="-38608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Maintenance, power and cooling costs increase with more servers.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6080" indent="-38608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Scaling the infrastructure is slower and less flexible.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0" y="354955"/>
            <a:ext cx="8507685" cy="6523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80E6A31-1D81-0BA0-93EC-8DC033048707}"/>
              </a:ext>
            </a:extLst>
          </p:cNvPr>
          <p:cNvSpPr/>
          <p:nvPr/>
        </p:nvSpPr>
        <p:spPr>
          <a:xfrm>
            <a:off x="7884160" y="6289040"/>
            <a:ext cx="1351280" cy="5689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00D495-6116-B201-EDFD-B9AEE72DF979}"/>
              </a:ext>
            </a:extLst>
          </p:cNvPr>
          <p:cNvSpPr txBox="1"/>
          <p:nvPr/>
        </p:nvSpPr>
        <p:spPr>
          <a:xfrm>
            <a:off x="8093075" y="6470414"/>
            <a:ext cx="979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6</a:t>
            </a:r>
          </a:p>
        </p:txBody>
      </p:sp>
      <p:pic>
        <p:nvPicPr>
          <p:cNvPr id="9" name="Picture 8" descr="https://images.openai.com/static-rsc-4/pgMEm5z3GSr2EXwUjSkrc7H_tg1RTvfCbz1FoZyiDRg3N0MXWptjn7mJlXrM90I9ASYq2dzOmiLwBt9sEOyWktQAVb-VMUVhTPvQeMbe4g5XSDPADK4vNigp9PdcZ4NtyH-jlwDsN3hL2r5wX5GI0egQ4WuYvzKc42azxmH_73zMRpGCbh7KininFkWLi-wp?purpose=fullsize">
            <a:extLst>
              <a:ext uri="{FF2B5EF4-FFF2-40B4-BE49-F238E27FC236}">
                <a16:creationId xmlns:a16="http://schemas.microsoft.com/office/drawing/2014/main" id="{2BBF743F-BEDB-78C4-EB05-2F4259259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681" y="2601100"/>
            <a:ext cx="3054778" cy="32632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001" y="6470414"/>
            <a:ext cx="515169" cy="1371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898989"/>
                </a:solidFill>
                <a:latin typeface="Carlito" panose="020F0502020204030204" pitchFamily="34" charset="0"/>
                <a:ea typeface="Carlito" panose="020F0502020204030204" pitchFamily="34" charset="-122"/>
                <a:cs typeface="Carlito" panose="020F0502020204030204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34110" y="1515745"/>
            <a:ext cx="7225665" cy="861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Proposed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78230" y="2233295"/>
            <a:ext cx="7014845" cy="9569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Tinos Bold" panose="02020803070505020304" pitchFamily="34" charset="-122"/>
                <a:cs typeface="Times New Roman" panose="02020603050405020304" pitchFamily="18" charset="0"/>
              </a:rPr>
              <a:t>Server Virtualization Model</a:t>
            </a:r>
          </a:p>
        </p:txBody>
      </p:sp>
      <p:sp>
        <p:nvSpPr>
          <p:cNvPr id="5" name="Text 3"/>
          <p:cNvSpPr/>
          <p:nvPr/>
        </p:nvSpPr>
        <p:spPr>
          <a:xfrm>
            <a:off x="697805" y="2885966"/>
            <a:ext cx="5062915" cy="30404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86080" indent="-38608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Multiple virtual machines run on a single physical host.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6080" indent="-38608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A hypervisor creates and manages the virtual machines.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6080" indent="-38608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CPU, memory, storage and network resources are allocated to VMs.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6080" indent="-38608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Each VM provides an isolated environment for its workload.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6080" indent="-38608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VMs can be provisioned and scaled faster than physical servers.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6080" indent="-386080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Tinos" panose="02020603050405020304" pitchFamily="34" charset="-122"/>
                <a:cs typeface="Times New Roman" panose="02020603050405020304" pitchFamily="18" charset="0"/>
              </a:rPr>
              <a:t>Hardware utilization and infrastructure flexibility are improved.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0" y="354955"/>
            <a:ext cx="8507685" cy="652388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078230" y="2232025"/>
            <a:ext cx="3082925" cy="652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799259-6833-0F48-024E-4E67DDEB0C60}"/>
              </a:ext>
            </a:extLst>
          </p:cNvPr>
          <p:cNvSpPr/>
          <p:nvPr/>
        </p:nvSpPr>
        <p:spPr>
          <a:xfrm>
            <a:off x="7904480" y="6329680"/>
            <a:ext cx="1239520" cy="528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AE054C-3A5B-3D33-F6F8-E2A0F70AE3BB}"/>
              </a:ext>
            </a:extLst>
          </p:cNvPr>
          <p:cNvSpPr txBox="1"/>
          <p:nvPr/>
        </p:nvSpPr>
        <p:spPr>
          <a:xfrm>
            <a:off x="8006080" y="6470414"/>
            <a:ext cx="99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7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52EA64-DB67-519D-ADCB-6D23D955D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740" y="2711767"/>
            <a:ext cx="3208020" cy="2138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001" y="6470414"/>
            <a:ext cx="515169" cy="1371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898989"/>
                </a:solidFill>
                <a:latin typeface="Carlito" panose="020F0502020204030204" pitchFamily="34" charset="0"/>
                <a:ea typeface="Carlito" panose="020F0502020204030204" pitchFamily="34" charset="-122"/>
                <a:cs typeface="Carlito" panose="020F0502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3656" y="1280889"/>
            <a:ext cx="7316539" cy="4388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C00000"/>
                </a:solidFill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Overall 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84481" y="1764030"/>
            <a:ext cx="5892799" cy="23736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n-US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40816"/>
            <a:ext cx="8507685" cy="6523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4E5EF5-B4FA-EDFD-72C1-901866A7ACBD}"/>
              </a:ext>
            </a:extLst>
          </p:cNvPr>
          <p:cNvSpPr/>
          <p:nvPr/>
        </p:nvSpPr>
        <p:spPr>
          <a:xfrm>
            <a:off x="7823200" y="6268720"/>
            <a:ext cx="1217885" cy="589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CD53E9-B4C7-AE08-EE76-8D8B0BFF1E5A}"/>
              </a:ext>
            </a:extLst>
          </p:cNvPr>
          <p:cNvSpPr txBox="1"/>
          <p:nvPr/>
        </p:nvSpPr>
        <p:spPr>
          <a:xfrm>
            <a:off x="7985760" y="6470414"/>
            <a:ext cx="895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80C4DF-12FD-2446-8469-CA5AB8B92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07" y="1719709"/>
            <a:ext cx="5553433" cy="46632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6001" y="6470414"/>
            <a:ext cx="515169" cy="1371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898989"/>
                </a:solidFill>
                <a:latin typeface="Carlito" panose="020F0502020204030204" pitchFamily="34" charset="0"/>
                <a:ea typeface="Carlito" panose="020F0502020204030204" pitchFamily="34" charset="-122"/>
                <a:cs typeface="Carlito" panose="020F0502020204030204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0760" y="1353820"/>
            <a:ext cx="7229475" cy="815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Proposed Methodology and Algorithm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8855" y="2146935"/>
            <a:ext cx="4954270" cy="25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VM Provisioning and Resource Allocation</a:t>
            </a:r>
          </a:p>
        </p:txBody>
      </p:sp>
      <p:sp>
        <p:nvSpPr>
          <p:cNvPr id="5" name="Text 3"/>
          <p:cNvSpPr/>
          <p:nvPr/>
        </p:nvSpPr>
        <p:spPr>
          <a:xfrm>
            <a:off x="939105" y="3355256"/>
            <a:ext cx="6938070" cy="7315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9105" y="4429720"/>
            <a:ext cx="6938070" cy="7315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0" y="354955"/>
            <a:ext cx="8507685" cy="652388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998855" y="2739390"/>
            <a:ext cx="3146426" cy="2024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Receive the workload and resource requirements.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Check available CPU, memory and storage capacity.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Select a suitable VM configuration and physical host.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Create the virtual machine using the hypervisor.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Allocate required computing and networking resources.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Monitor utilization and scale or reallocate resources when required.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6248399" y="2740025"/>
            <a:ext cx="2117725" cy="31965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endParaRPr lang="en-US" altLang="zh-CN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4D193E-C676-02EB-7CCF-7284BACEE664}"/>
              </a:ext>
            </a:extLst>
          </p:cNvPr>
          <p:cNvSpPr/>
          <p:nvPr/>
        </p:nvSpPr>
        <p:spPr>
          <a:xfrm>
            <a:off x="7877175" y="6370320"/>
            <a:ext cx="1266825" cy="5231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C64E79-02D1-B48D-76F2-761F1EBA3A78}"/>
              </a:ext>
            </a:extLst>
          </p:cNvPr>
          <p:cNvSpPr txBox="1"/>
          <p:nvPr/>
        </p:nvSpPr>
        <p:spPr>
          <a:xfrm>
            <a:off x="8230234" y="6453735"/>
            <a:ext cx="65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E7640B-F118-2BC0-E20B-C150197FE4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849" t="15022" r="1849" b="4164"/>
          <a:stretch>
            <a:fillRect/>
          </a:stretch>
        </p:blipFill>
        <p:spPr>
          <a:xfrm>
            <a:off x="4224654" y="2711296"/>
            <a:ext cx="4704080" cy="33731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08107" y="6470414"/>
            <a:ext cx="573063" cy="1371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898989"/>
                </a:solidFill>
                <a:latin typeface="Carlito" panose="020F0502020204030204" pitchFamily="34" charset="0"/>
                <a:ea typeface="Carlito" panose="020F0502020204030204" pitchFamily="34" charset="-122"/>
                <a:cs typeface="Carlito" panose="020F0502020204030204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6940" y="1405890"/>
            <a:ext cx="7481570" cy="7200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250" b="1" dirty="0">
                <a:solidFill>
                  <a:srgbClr val="C00000"/>
                </a:solidFill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Real-world Use Case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929580" y="2514600"/>
            <a:ext cx="8062020" cy="5485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ea typeface="Carlito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6305" y="4732020"/>
            <a:ext cx="5271135" cy="212597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65760" indent="-365760" algn="l">
              <a:lnSpc>
                <a:spcPct val="100000"/>
              </a:lnSpc>
              <a:buSzPct val="10000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ea typeface="Carlito" panose="020F050202020403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0" y="354955"/>
            <a:ext cx="8507685" cy="652388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526790" y="2800985"/>
            <a:ext cx="343662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7E1BE0-C498-14ED-AA87-A05DC83A6A64}"/>
              </a:ext>
            </a:extLst>
          </p:cNvPr>
          <p:cNvSpPr/>
          <p:nvPr/>
        </p:nvSpPr>
        <p:spPr>
          <a:xfrm>
            <a:off x="7975600" y="6380480"/>
            <a:ext cx="1270000" cy="477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0037F4-1549-6C51-19FC-06B0982276BC}"/>
              </a:ext>
            </a:extLst>
          </p:cNvPr>
          <p:cNvSpPr txBox="1"/>
          <p:nvPr/>
        </p:nvSpPr>
        <p:spPr>
          <a:xfrm>
            <a:off x="8128000" y="6380480"/>
            <a:ext cx="127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10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C3425D-1666-9323-AD34-9CEA9AEF7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49" y="2007352"/>
            <a:ext cx="7260358" cy="42105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08107" y="6470414"/>
            <a:ext cx="573063" cy="1371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898989"/>
                </a:solidFill>
                <a:latin typeface="Carlito" panose="020F0502020204030204" pitchFamily="34" charset="0"/>
                <a:ea typeface="Carlito" panose="020F0502020204030204" pitchFamily="34" charset="-122"/>
                <a:cs typeface="Carlito" panose="020F0502020204030204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81980" y="1654746"/>
            <a:ext cx="7316539" cy="49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Tinos Bold" panose="02020803070505020304" pitchFamily="34" charset="-122"/>
                <a:cs typeface="Times New Roman" panose="02020603050405020304" pitchFamily="18" charset="0"/>
              </a:rPr>
              <a:t>Conclusion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9579" y="2514600"/>
            <a:ext cx="7316539" cy="33070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virtualization converts physical resources into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virtual resources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VMs can share the resources of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physical server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CPU, memory, and hardware utilization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hardware, power, and maintenance costs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provisioning and flexible resource allocation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efficient cloud infrastructure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isolation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virtual machines.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security, resource contention, and management must be considered.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0" y="354955"/>
            <a:ext cx="8507685" cy="6523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8A4193-CC99-859B-55A0-89735A856BED}"/>
              </a:ext>
            </a:extLst>
          </p:cNvPr>
          <p:cNvSpPr/>
          <p:nvPr/>
        </p:nvSpPr>
        <p:spPr>
          <a:xfrm>
            <a:off x="7975600" y="6268720"/>
            <a:ext cx="1168400" cy="589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C8702C-FBDE-2CD9-2161-0F9A8248D3FD}"/>
              </a:ext>
            </a:extLst>
          </p:cNvPr>
          <p:cNvSpPr txBox="1"/>
          <p:nvPr/>
        </p:nvSpPr>
        <p:spPr>
          <a:xfrm>
            <a:off x="8056438" y="6470414"/>
            <a:ext cx="824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08107" y="6470414"/>
            <a:ext cx="573063" cy="13714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898989"/>
                </a:solidFill>
                <a:latin typeface="Carlito" panose="020F0502020204030204" pitchFamily="34" charset="0"/>
                <a:ea typeface="Carlito" panose="020F0502020204030204" pitchFamily="34" charset="-122"/>
                <a:cs typeface="Carlito" panose="020F0502020204030204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3656" y="1559421"/>
            <a:ext cx="7316539" cy="4937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C00000"/>
                </a:solidFill>
                <a:latin typeface="Tinos Bold" panose="02020803070505020304" pitchFamily="34" charset="0"/>
                <a:ea typeface="Tinos Bold" panose="02020803070505020304" pitchFamily="34" charset="-122"/>
                <a:cs typeface="Tinos Bold" panose="02020803070505020304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09601" y="2209800"/>
            <a:ext cx="6938070" cy="29448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nos" panose="02020603050405020304" pitchFamily="34" charset="0"/>
                <a:ea typeface="Tinos" panose="02020603050405020304" pitchFamily="34" charset="-122"/>
                <a:cs typeface="Tinos" panose="02020603050405020304" pitchFamily="34" charset="-120"/>
              </a:rPr>
              <a:t>NIST – The NIST Definition of Cloud Computing, SP 800-145.</a:t>
            </a:r>
            <a:endParaRPr lang="en-US" sz="1800" dirty="0">
              <a:solidFill>
                <a:schemeClr val="tx1"/>
              </a:solidFill>
            </a:endParaRPr>
          </a:p>
          <a:p>
            <a:pPr marL="365760" indent="-36576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nos" panose="02020603050405020304" pitchFamily="34" charset="0"/>
                <a:ea typeface="Tinos" panose="02020603050405020304" pitchFamily="34" charset="-122"/>
                <a:cs typeface="Tinos" panose="02020603050405020304" pitchFamily="34" charset="-120"/>
              </a:rPr>
              <a:t>NIST – Virtualization and Cloud Computing guidance.</a:t>
            </a:r>
            <a:endParaRPr lang="en-US" sz="1800" dirty="0">
              <a:solidFill>
                <a:schemeClr val="tx1"/>
              </a:solidFill>
            </a:endParaRPr>
          </a:p>
          <a:p>
            <a:pPr marL="365760" indent="-36576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nos" panose="02020603050405020304" pitchFamily="34" charset="0"/>
                <a:ea typeface="Tinos" panose="02020603050405020304" pitchFamily="34" charset="-122"/>
                <a:cs typeface="Tinos" panose="02020603050405020304" pitchFamily="34" charset="-120"/>
              </a:rPr>
              <a:t>VMware – Server Virtualization and Hypervisor Concepts.</a:t>
            </a:r>
            <a:endParaRPr lang="en-US" sz="1800" dirty="0">
              <a:solidFill>
                <a:schemeClr val="tx1"/>
              </a:solidFill>
            </a:endParaRPr>
          </a:p>
          <a:p>
            <a:pPr marL="365760" indent="-36576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nos" panose="02020603050405020304" pitchFamily="34" charset="0"/>
                <a:ea typeface="Tinos" panose="02020603050405020304" pitchFamily="34" charset="-122"/>
                <a:cs typeface="Tinos" panose="02020603050405020304" pitchFamily="34" charset="-120"/>
              </a:rPr>
              <a:t>Microsoft Learn – Hyper-V Virtualization Documentation.</a:t>
            </a:r>
            <a:endParaRPr lang="en-US" sz="1800" dirty="0">
              <a:solidFill>
                <a:schemeClr val="tx1"/>
              </a:solidFill>
            </a:endParaRPr>
          </a:p>
          <a:p>
            <a:pPr marL="365760" indent="-36576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nos" panose="02020603050405020304" pitchFamily="34" charset="0"/>
                <a:ea typeface="Tinos" panose="02020603050405020304" pitchFamily="34" charset="-122"/>
                <a:cs typeface="Tinos" panose="02020603050405020304" pitchFamily="34" charset="-120"/>
              </a:rPr>
              <a:t>Red Hat – Virtualization Fundamentals.</a:t>
            </a:r>
            <a:endParaRPr lang="en-US" sz="1800" dirty="0">
              <a:solidFill>
                <a:schemeClr val="tx1"/>
              </a:solidFill>
            </a:endParaRPr>
          </a:p>
          <a:p>
            <a:pPr marL="365760" indent="-36576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nos" panose="02020603050405020304" pitchFamily="34" charset="0"/>
                <a:ea typeface="Tinos" panose="02020603050405020304" pitchFamily="34" charset="-122"/>
                <a:cs typeface="Tinos" panose="02020603050405020304" pitchFamily="34" charset="-120"/>
              </a:rPr>
              <a:t>CSA1519 – Cloud Computing and Big Data Analytics course materials.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0" y="354955"/>
            <a:ext cx="8507685" cy="6523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5D08BF-9841-B97F-EA40-328AAEFDD8B9}"/>
              </a:ext>
            </a:extLst>
          </p:cNvPr>
          <p:cNvSpPr/>
          <p:nvPr/>
        </p:nvSpPr>
        <p:spPr>
          <a:xfrm>
            <a:off x="7904480" y="6228080"/>
            <a:ext cx="1239520" cy="6299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28A1BA-C0E2-28B5-A8A6-B9775143EB01}"/>
              </a:ext>
            </a:extLst>
          </p:cNvPr>
          <p:cNvSpPr txBox="1"/>
          <p:nvPr/>
        </p:nvSpPr>
        <p:spPr>
          <a:xfrm>
            <a:off x="8036560" y="6470414"/>
            <a:ext cx="878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753</Words>
  <Application>Microsoft Office PowerPoint</Application>
  <PresentationFormat>On-screen Show (4:3)</PresentationFormat>
  <Paragraphs>122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Carlito</vt:lpstr>
      <vt:lpstr>Tinos Bold</vt:lpstr>
      <vt:lpstr>Arial</vt:lpstr>
      <vt:lpstr>Tinos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RAMESH KUMAR</cp:lastModifiedBy>
  <cp:revision>13</cp:revision>
  <dcterms:created xsi:type="dcterms:W3CDTF">2026-10-02T16:14:00Z</dcterms:created>
  <dcterms:modified xsi:type="dcterms:W3CDTF">2026-10-08T05:18:28Z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90046D0E54B14878A5C02F0D72C556C1_12</vt:lpwstr>
  </property>
</Properties>
</file>